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Plus Jakarta Sans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Plus Jakarta Sans SemiBold"/>
      <p:regular r:id="rId24"/>
      <p:bold r:id="rId25"/>
      <p:italic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PlusJakartaSansSemiBold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SemiBold-italic.fntdata"/><Relationship Id="rId25" Type="http://schemas.openxmlformats.org/officeDocument/2006/relationships/font" Target="fonts/PlusJakartaSansSemiBold-bold.fntdata"/><Relationship Id="rId28" Type="http://schemas.openxmlformats.org/officeDocument/2006/relationships/font" Target="fonts/InterMedium-regular.fntdata"/><Relationship Id="rId27" Type="http://schemas.openxmlformats.org/officeDocument/2006/relationships/font" Target="fonts/PlusJakartaSa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19" Type="http://schemas.openxmlformats.org/officeDocument/2006/relationships/font" Target="fonts/PlusJakartaSans-boldItalic.fntdata"/><Relationship Id="rId18" Type="http://schemas.openxmlformats.org/officeDocument/2006/relationships/font" Target="fonts/PlusJakarta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11" Type="http://schemas.openxmlformats.org/officeDocument/2006/relationships/image" Target="../media/image25.png"/><Relationship Id="rId10" Type="http://schemas.openxmlformats.org/officeDocument/2006/relationships/image" Target="../media/image12.png"/><Relationship Id="rId12" Type="http://schemas.openxmlformats.org/officeDocument/2006/relationships/image" Target="../media/image7.png"/><Relationship Id="rId9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4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0" Type="http://schemas.openxmlformats.org/officeDocument/2006/relationships/image" Target="../media/image10.png"/><Relationship Id="rId9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27.png"/><Relationship Id="rId13" Type="http://schemas.openxmlformats.org/officeDocument/2006/relationships/image" Target="../media/image23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9" Type="http://schemas.openxmlformats.org/officeDocument/2006/relationships/image" Target="../media/image21.png"/><Relationship Id="rId15" Type="http://schemas.openxmlformats.org/officeDocument/2006/relationships/image" Target="../media/image31.png"/><Relationship Id="rId14" Type="http://schemas.openxmlformats.org/officeDocument/2006/relationships/image" Target="../media/image33.png"/><Relationship Id="rId5" Type="http://schemas.openxmlformats.org/officeDocument/2006/relationships/image" Target="../media/image16.png"/><Relationship Id="rId6" Type="http://schemas.openxmlformats.org/officeDocument/2006/relationships/image" Target="../media/image22.png"/><Relationship Id="rId7" Type="http://schemas.openxmlformats.org/officeDocument/2006/relationships/image" Target="../media/image20.png"/><Relationship Id="rId8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2225" y="-2894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6275" y="2133748"/>
            <a:ext cx="32194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107630" y="2762398"/>
            <a:ext cx="397659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</a:t>
            </a:r>
            <a:r>
              <a:rPr b="1" i="0" lang="en-US" sz="5400" u="none" cap="none" strike="noStrike">
                <a:solidFill>
                  <a:srgbClr val="0EA5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Asistan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70715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Hasta Takip Sürecindeki "Veri Kopukluğu" ve "Süreç Tıkanıklıklarına" Kesin Çözüm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581025" y="771525"/>
            <a:ext cx="519064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Çözülen Problemler</a:t>
            </a:r>
            <a:endParaRPr/>
          </a:p>
        </p:txBody>
      </p:sp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70975" y="1640913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İlaç Saatlerinin Unutulması </a:t>
            </a:r>
            <a:endParaRPr sz="1350">
              <a:solidFill>
                <a:srgbClr val="EF444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1848825"/>
            <a:ext cx="49434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Hastanelerdeki manuel onay mekanizmalarının hantallığı ve doktorların üzerindeki gereksiz bürokratik iş yükü.</a:t>
            </a:r>
            <a:endParaRPr sz="1300"/>
          </a:p>
        </p:txBody>
      </p:sp>
      <p:sp>
        <p:nvSpPr>
          <p:cNvPr id="96" name="Google Shape;96;p14"/>
          <p:cNvSpPr txBox="1"/>
          <p:nvPr/>
        </p:nvSpPr>
        <p:spPr>
          <a:xfrm>
            <a:off x="301800" y="2548000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Doktorun Takip Zorluğu 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13988" y="2834063"/>
            <a:ext cx="49434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Hastanın evdeki anlık tedavi durumunun, doz uyuncunun dijital sisteme geç işlenmesi nedeniyle oluşan hayati zaman kayıpları ve takip zorluğu.</a:t>
            </a:r>
            <a:endParaRPr/>
          </a:p>
        </p:txBody>
      </p:sp>
      <p:pic>
        <p:nvPicPr>
          <p:cNvPr id="98" name="Google Shape;98;p14" title="Screenshot 2026-05-17 0911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8" y="0"/>
            <a:ext cx="601228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252625" y="3926663"/>
            <a:ext cx="4943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50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Okuma Zorluğu ve Karmaşık Sistemler </a:t>
            </a:r>
            <a:endParaRPr sz="1350">
              <a:solidFill>
                <a:srgbClr val="EF444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EF444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EF444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14000" y="4164025"/>
            <a:ext cx="49434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Mevcut dijital çözümler, teknoloji okuryazarlığı düşük yaşlı hastalar için kullanılması imkansız, karmaşık arayüzlere ve manuel veri girişine dayalı hantal sistemler.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260455" y="5134588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Anlık İletişim Eksikliğı</a:t>
            </a:r>
            <a:endParaRPr sz="1350">
              <a:solidFill>
                <a:srgbClr val="EF444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54814" y="5394289"/>
            <a:ext cx="49434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Hasta ile doktor arasında anlık bir bağlantı kurulamaması, tedavi sürecinin sadece hastane ziyaretleriyle sınırlı kalması. </a:t>
            </a:r>
            <a:endParaRPr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28800"/>
            <a:ext cx="3422600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1828800"/>
            <a:ext cx="3422600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1828800"/>
            <a:ext cx="3422600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11250" y="22193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515747" y="3219450"/>
            <a:ext cx="155300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Hasta Paneli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76300" y="3943350"/>
            <a:ext cx="2832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Gemini AI ile fotoğraftan saniyeler içinde ilaç ekleme, günlük doz takibi ve hatırlatıcılarla hastanın kendi sürecini otonom yönetmesi.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4851" y="22193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242147" y="3219450"/>
            <a:ext cx="170755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Doktor Paneli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79900" y="3943350"/>
            <a:ext cx="2832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Bağlı hastaların ilaç uyuncunu (% adherens) tek ekrandan canlı izleme, yeni reçete yazma ve tedavi sürecine anında müdahale imkanı.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8451" y="22193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560221" y="3219450"/>
            <a:ext cx="267845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Anlık Senkronizasyon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83550" y="4008465"/>
            <a:ext cx="2832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Hastanın evde attığı her adımın doktorun ekranına anlık yansıması. Veri silolarının yıkılması ve gerçek zamanlı tedavi optimizasyonu.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58900" y="244792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62501" y="244792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47051" y="24479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MedAsistan Mimari Çözümü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81025" y="1228725"/>
            <a:ext cx="1102995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962025" y="1704975"/>
            <a:ext cx="48482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Modern Çekirdek: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Next.js 16 (App Router) ve React 19 mimarisi ile yüksek performanslı, SSR destekli uygulama geliştirimi.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62025" y="2628900"/>
            <a:ext cx="48482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Güvenlik ve Veri: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Supabase Auth &amp; PostgreSQL. Row Level Security (RLS) politikaları ile hasta/doktor veri gizliliğinin uçtan uca sağlanması.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62025" y="3552825"/>
            <a:ext cx="48482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Görsel Analiz: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Gemini 2.0 Flash entegrasyonu ile ilaç kutularından etken madde ve son kullanma tarihi çıkarımı.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62025" y="4476750"/>
            <a:ext cx="48482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Sürdürülebilir Kod: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TypeScript tip güvenliği, Tailwind CSS (v4) mimarisi ve bileşen tabanlı, ölçeklenebilir klasör yapısı.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448300"/>
            <a:ext cx="9525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" y="5448300"/>
            <a:ext cx="9715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90825" y="5448300"/>
            <a:ext cx="10191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52875" y="5448300"/>
            <a:ext cx="10763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829300"/>
            <a:ext cx="9334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205263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Teknik Altyapı &amp; Mühendislik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81025" y="1228725"/>
            <a:ext cx="1102995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1025" y="17240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1025" y="26479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1025" y="35718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1025" y="44958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908970"/>
            <a:ext cx="2426493" cy="2047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8794" y="3908970"/>
            <a:ext cx="2426493" cy="2047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563" y="3908970"/>
            <a:ext cx="2426493" cy="1803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4332" y="3908970"/>
            <a:ext cx="2426493" cy="180379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81025" y="163830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Manuel bildirim operasyonlarını ortadan kaldıran uçtan uca Puq.ai ilaç hatırlatma akışı.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1132433" y="3623220"/>
            <a:ext cx="9926835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08521" y="276597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76291" y="276597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44060" y="276597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11829" y="276597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94259" y="293742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730388" y="4156620"/>
            <a:ext cx="21277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1. Zamanlayıcı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81050" y="4489995"/>
            <a:ext cx="2026443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Schedule (Every Day). Sistem belirlediğimiz periyotlarda otomatik olarak uyanır ve akışı tetikler.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62028" y="293742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3598158" y="4156620"/>
            <a:ext cx="21277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2. Veri Seçimi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3648819" y="4489995"/>
            <a:ext cx="2026443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Select Data (Supabase). O gün için planlanmış ancak henüz "alındı" olarak işaretlenmemiş doz kayıtları çekilir.</a:t>
            </a:r>
            <a:endParaRPr/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415510" y="29374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6465927" y="4156620"/>
            <a:ext cx="21277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3. Döngü (Loop)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516588" y="4489995"/>
            <a:ext cx="2026443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Loop on Items. Çekilen her bir eksik hasta dozu için kişiselleştirilmiş veri ayrıştırma döngüsü başlar.</a:t>
            </a:r>
            <a:endParaRPr/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283279" y="29374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9333696" y="4156620"/>
            <a:ext cx="21277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4. E-Posta İletimi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9384357" y="4489995"/>
            <a:ext cx="2026443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Send Email (Gmail). İlgili hastaya "İlaç saatiniz geçiyor" uyarısı otomatik olarak iletilir.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Sponsor Entegrasyonu: Puq.ai Otomasyonu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581025" y="1228725"/>
            <a:ext cx="1102995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10283279" y="363276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7415504" y="367086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4543845" y="3691383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1672204" y="367086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962025" y="1660177"/>
            <a:ext cx="10781347" cy="192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Zamanı Geldi: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Canlı Demo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62025" y="3774727"/>
            <a:ext cx="762000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Hasta kayıt süreci, yapay zeka ile ilaç ekleme, doktor daveti ve otomatik uyarı mekanizmalarını canlı veritabanı üzerinde deneyimleyelim.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